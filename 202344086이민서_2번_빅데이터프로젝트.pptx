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8" r:id="rId2"/>
    <p:sldId id="280" r:id="rId3"/>
    <p:sldId id="279" r:id="rId4"/>
    <p:sldId id="281" r:id="rId5"/>
    <p:sldId id="282" r:id="rId6"/>
    <p:sldId id="283" r:id="rId7"/>
    <p:sldId id="284" r:id="rId8"/>
    <p:sldId id="285" r:id="rId9"/>
    <p:sldId id="290" r:id="rId10"/>
    <p:sldId id="286" r:id="rId11"/>
    <p:sldId id="287" r:id="rId12"/>
    <p:sldId id="288" r:id="rId13"/>
    <p:sldId id="289" r:id="rId14"/>
    <p:sldId id="295" r:id="rId15"/>
    <p:sldId id="291" r:id="rId16"/>
    <p:sldId id="292" r:id="rId17"/>
    <p:sldId id="293" r:id="rId18"/>
    <p:sldId id="294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76"/>
  </p:normalViewPr>
  <p:slideViewPr>
    <p:cSldViewPr snapToGrid="0">
      <p:cViewPr varScale="1">
        <p:scale>
          <a:sx n="114" d="100"/>
          <a:sy n="114" d="100"/>
        </p:scale>
        <p:origin x="6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D2A5F2-A500-179A-F795-634CEB258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8F2D670-F2C0-922D-4061-854C92FECF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FEE5C8-B345-F617-4D5E-4B0815439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71F86-116E-BE4F-845E-40183BE35C3F}" type="datetimeFigureOut">
              <a:rPr kumimoji="1" lang="ko-KR" altLang="en-US" smtClean="0"/>
              <a:t>2025. 12. 14.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CC9920-1327-F12B-FE44-47081F249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DFE579-EDB3-FED7-60E3-C5142D8CF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FE21-062E-DE4E-B205-48DDC7F5CAB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58421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0D4E2D-8B05-5866-093C-50CC4CB68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F2FD48-AA33-1F78-5630-C330E2CD5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3C44EB-864D-900B-097C-50AF425FB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71F86-116E-BE4F-845E-40183BE35C3F}" type="datetimeFigureOut">
              <a:rPr kumimoji="1" lang="ko-KR" altLang="en-US" smtClean="0"/>
              <a:t>2025. 12. 14.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44BDB9-8E74-5416-0799-4557DA0AC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37F419-F560-C0DA-3006-3EE7C4DBC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FE21-062E-DE4E-B205-48DDC7F5CAB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44011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D37778-6D2A-85D5-AE87-AEA37E342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B7F48C-808C-F569-AB8D-60AF6CEBC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CF8E8D-74D2-CBAE-3C4C-2B4431AC7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71F86-116E-BE4F-845E-40183BE35C3F}" type="datetimeFigureOut">
              <a:rPr kumimoji="1" lang="ko-KR" altLang="en-US" smtClean="0"/>
              <a:t>2025. 12. 14.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FC5FE4-66A2-81AD-18EE-D637C00F0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204C3E-FC9D-936F-838D-6BF88F4EE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FE21-062E-DE4E-B205-48DDC7F5CAB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4487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E05ABC-BBE7-D243-E94A-B7B60337D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5B25B1-ABB0-539D-0D95-F8FB34A1D7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ECBFC84-2D49-1E4E-116E-EBDAF31521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A5C932-E4EC-DFB8-EEDA-ADD9A0A89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71F86-116E-BE4F-845E-40183BE35C3F}" type="datetimeFigureOut">
              <a:rPr kumimoji="1" lang="ko-KR" altLang="en-US" smtClean="0"/>
              <a:t>2025. 12. 14.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38C942-EEA3-9538-1A0C-44AC8C039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571D6D-CBB2-4CFE-C498-D0335796D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FE21-062E-DE4E-B205-48DDC7F5CAB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19061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48396F-E26A-2A40-88B5-A09E4A791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0ACB04-C341-5016-E54C-CE6679F4D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8DC0089-0A90-4E74-CCF8-A4A910FD0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7CE1927-33BE-796B-0D80-BEB223C195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6E5C21F-9CE1-1F53-E662-64E7B2694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0BDF522-71B6-BE45-99AE-13FC1BDA4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71F86-116E-BE4F-845E-40183BE35C3F}" type="datetimeFigureOut">
              <a:rPr kumimoji="1" lang="ko-KR" altLang="en-US" smtClean="0"/>
              <a:t>2025. 12. 14.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3498ABD-6A46-A7E7-64BB-C6C222DD7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270CFD2-21D6-5E4F-D148-B0AFA88AF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FE21-062E-DE4E-B205-48DDC7F5CAB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35665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2864E9-6F8E-277D-BC46-7E2A3C4D1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ABFC399-2DE6-83A4-595A-D2CB20737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71F86-116E-BE4F-845E-40183BE35C3F}" type="datetimeFigureOut">
              <a:rPr kumimoji="1" lang="ko-KR" altLang="en-US" smtClean="0"/>
              <a:t>2025. 12. 14.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8700111-B3AF-9B0C-B7AA-1DED7089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D1EA77C-5965-5942-CAC5-44EADE6E4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FE21-062E-DE4E-B205-48DDC7F5CAB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23008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F81D7D1-2FAD-8BE0-23A7-80C640F4D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71F86-116E-BE4F-845E-40183BE35C3F}" type="datetimeFigureOut">
              <a:rPr kumimoji="1" lang="ko-KR" altLang="en-US" smtClean="0"/>
              <a:t>2025. 12. 14.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0694CE2-2909-E5D1-98E1-08FEFFEBA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E24628-7590-2BFD-CBAA-0C490EE8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FE21-062E-DE4E-B205-48DDC7F5CAB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91347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7F569-13E7-2E7B-1162-DF44160A9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A75AF5-EED0-1243-2F97-731048A6E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0BB6B7-E29B-83C2-42CE-2E785A9EF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C805EC7-7986-CA34-082B-E8D327B8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71F86-116E-BE4F-845E-40183BE35C3F}" type="datetimeFigureOut">
              <a:rPr kumimoji="1" lang="ko-KR" altLang="en-US" smtClean="0"/>
              <a:t>2025. 12. 14.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96D2CB-C805-97EB-FBF8-AAE156BE9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766F7F-6E07-F323-7A3D-A8EA49BE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FE21-062E-DE4E-B205-48DDC7F5CAB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25670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1F37D1-E80B-8AE3-1F64-DE4E2A064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F877634-BA43-4BAA-9792-977673313A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75BD35-2FC7-F4C1-3259-CE0DC2B8DC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658F81-FE2D-6376-618B-84284204D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71F86-116E-BE4F-845E-40183BE35C3F}" type="datetimeFigureOut">
              <a:rPr kumimoji="1" lang="ko-KR" altLang="en-US" smtClean="0"/>
              <a:t>2025. 12. 14.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3CE284-D2F5-A2D3-DE37-0A19CA7E5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9EDA21-D6D5-C47F-A073-C3C5BF8C8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FE21-062E-DE4E-B205-48DDC7F5CAB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08264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7E7F0A-839B-7C15-3F17-C0901CA90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90A210-AC9E-E266-C915-AA40236A6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D1CBE7-BEE6-33B3-5977-DBBB13610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71F86-116E-BE4F-845E-40183BE35C3F}" type="datetimeFigureOut">
              <a:rPr kumimoji="1" lang="ko-KR" altLang="en-US" smtClean="0"/>
              <a:t>2025. 12. 14.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AB3F28-A5F2-635E-57A3-8944D1405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44FC8C-7A38-7ACC-7F70-F753CA912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FE21-062E-DE4E-B205-48DDC7F5CAB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72203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F0CDE7F-F49B-EA2B-EAD8-10AC0DF7CB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6E089E0-8248-FA50-4998-F2E26A845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653C0A-BCAE-342B-57E0-0DB70C45A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71F86-116E-BE4F-845E-40183BE35C3F}" type="datetimeFigureOut">
              <a:rPr kumimoji="1" lang="ko-KR" altLang="en-US" smtClean="0"/>
              <a:t>2025. 12. 14.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6DAD72-43E7-B8CC-A224-563E88165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ABEA8F-A39D-1491-0060-75D3E1EF8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FE21-062E-DE4E-B205-48DDC7F5CAB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26250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93010DD-A585-3833-07AE-17C654F8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99AD28-553E-CF73-5ABA-851FBAC8C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C5333D-0EF0-F369-04FA-651EFAFF63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B71F86-116E-BE4F-845E-40183BE35C3F}" type="datetimeFigureOut">
              <a:rPr kumimoji="1" lang="ko-KR" altLang="en-US" smtClean="0"/>
              <a:t>2025. 12. 14.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5C106D-D8D1-5248-B6FC-BF6D5773EB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91F8B1-CC94-15B2-7AF0-929A00C154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C4FE21-062E-DE4E-B205-48DDC7F5CAB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41991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E544A-D814-0455-1765-DC58543A2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601292-7496-DB9A-F10B-FA37A11359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6024" y="1041400"/>
            <a:ext cx="9459951" cy="2387600"/>
          </a:xfrm>
        </p:spPr>
        <p:txBody>
          <a:bodyPr>
            <a:normAutofit fontScale="90000"/>
          </a:bodyPr>
          <a:lstStyle/>
          <a:p>
            <a:r>
              <a:rPr lang="ko-KR" altLang="en-US" b="1" dirty="0"/>
              <a:t>뉴스 텍스트 감성 분석을 통한 주가 변동성 상관관계 연구</a:t>
            </a:r>
            <a:endParaRPr kumimoji="1" lang="ko-KR" altLang="en-US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5DD1EF9-A918-AAB0-48AE-EC5D6C1F9C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60682"/>
            <a:ext cx="9144000" cy="613123"/>
          </a:xfrm>
        </p:spPr>
        <p:txBody>
          <a:bodyPr>
            <a:normAutofit/>
          </a:bodyPr>
          <a:lstStyle/>
          <a:p>
            <a:r>
              <a:rPr kumimoji="1" lang="en-US" altLang="ko-KR" sz="3200" b="1" dirty="0"/>
              <a:t>3-C 202344086</a:t>
            </a:r>
            <a:r>
              <a:rPr kumimoji="1" lang="ko-KR" altLang="en-US" sz="3200" b="1" dirty="0"/>
              <a:t> 이민서</a:t>
            </a:r>
          </a:p>
        </p:txBody>
      </p:sp>
    </p:spTree>
    <p:extLst>
      <p:ext uri="{BB962C8B-B14F-4D97-AF65-F5344CB8AC3E}">
        <p14:creationId xmlns:p14="http://schemas.microsoft.com/office/powerpoint/2010/main" val="2187570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928378-ED62-DBDC-57F7-8B3AD1655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1B9364-254C-F335-1F98-DABD648D3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/>
              <a:t>연구 목적과 범위</a:t>
            </a:r>
            <a:endParaRPr kumimoji="1" lang="en-US" altLang="ko-KR" dirty="0"/>
          </a:p>
          <a:p>
            <a:r>
              <a:rPr kumimoji="1" lang="ko-KR" altLang="en-US" dirty="0"/>
              <a:t>데이터 수집 및 </a:t>
            </a:r>
            <a:r>
              <a:rPr kumimoji="1" lang="ko-KR" altLang="en-US" dirty="0" err="1"/>
              <a:t>전처리</a:t>
            </a:r>
            <a:endParaRPr kumimoji="1" lang="en-US" altLang="ko-KR" dirty="0"/>
          </a:p>
          <a:p>
            <a:r>
              <a:rPr kumimoji="1" lang="ko-KR" altLang="en-US" dirty="0"/>
              <a:t>결과 이미지</a:t>
            </a:r>
            <a:endParaRPr kumimoji="1" lang="en-US" altLang="ko-KR" dirty="0"/>
          </a:p>
          <a:p>
            <a:r>
              <a:rPr kumimoji="1" lang="ko-KR" altLang="en-US" dirty="0"/>
              <a:t>분석 결과</a:t>
            </a:r>
            <a:endParaRPr kumimoji="1" lang="en-US" altLang="ko-KR" dirty="0"/>
          </a:p>
          <a:p>
            <a:r>
              <a:rPr kumimoji="1" lang="ko-KR" altLang="en-US" dirty="0"/>
              <a:t>최종 결과</a:t>
            </a:r>
          </a:p>
        </p:txBody>
      </p:sp>
    </p:spTree>
    <p:extLst>
      <p:ext uri="{BB962C8B-B14F-4D97-AF65-F5344CB8AC3E}">
        <p14:creationId xmlns:p14="http://schemas.microsoft.com/office/powerpoint/2010/main" val="1298321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48DECD-A9D5-5555-2A0F-60C396E11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/>
              <a:t>목적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A8940D-B5BB-3A2F-56AD-D618F1BCA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200" b="1" dirty="0"/>
              <a:t>1</a:t>
            </a:r>
            <a:r>
              <a:rPr lang="ko-KR" altLang="en-US" sz="3200" b="1" dirty="0"/>
              <a:t>번 프로젝트는 단순 </a:t>
            </a:r>
            <a:r>
              <a:rPr lang="ko-KR" altLang="en-US" sz="3200" b="1" dirty="0" err="1"/>
              <a:t>검색량과</a:t>
            </a:r>
            <a:r>
              <a:rPr lang="ko-KR" altLang="en-US" sz="3200" b="1" dirty="0"/>
              <a:t> 주가를 비교했다면 </a:t>
            </a:r>
            <a:br>
              <a:rPr lang="en-US" altLang="ko-KR" sz="3200" b="1" dirty="0"/>
            </a:br>
            <a:r>
              <a:rPr lang="ko-KR" altLang="en-US" sz="3200" b="1" dirty="0"/>
              <a:t>이번의 프로젝트는 뉴스 헤드라인의 긍정</a:t>
            </a:r>
            <a:r>
              <a:rPr lang="en-US" altLang="ko-KR" sz="3200" b="1" dirty="0"/>
              <a:t>/</a:t>
            </a:r>
            <a:r>
              <a:rPr lang="ko-KR" altLang="en-US" sz="3200" b="1" dirty="0"/>
              <a:t>부정적 어조</a:t>
            </a:r>
            <a:r>
              <a:rPr lang="en-US" altLang="ko-KR" sz="3200" b="1" dirty="0"/>
              <a:t>(</a:t>
            </a:r>
            <a:r>
              <a:rPr lang="en" altLang="ko-KR" sz="3200" b="1" dirty="0"/>
              <a:t>Sentiment)</a:t>
            </a:r>
            <a:r>
              <a:rPr lang="ko-KR" altLang="en-US" sz="3200" b="1" dirty="0"/>
              <a:t>가</a:t>
            </a:r>
            <a:r>
              <a:rPr lang="en-US" altLang="ko-KR" sz="3200" b="1" dirty="0"/>
              <a:t> </a:t>
            </a:r>
            <a:r>
              <a:rPr lang="ko-KR" altLang="en-US" sz="3200" b="1" dirty="0"/>
              <a:t>실제 주가 변동과 유의미한 상관관계가 있는지를 데이터 기반으로 검증하는 것을 목적으로 </a:t>
            </a:r>
            <a:br>
              <a:rPr lang="en-US" altLang="ko-KR" sz="3200" b="1" dirty="0"/>
            </a:br>
            <a:r>
              <a:rPr lang="ko-KR" altLang="en-US" sz="3200" b="1" dirty="0"/>
              <a:t>하였습니다</a:t>
            </a:r>
            <a:endParaRPr kumimoji="1"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904928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17D320-BB8D-86A8-1BFC-629869A98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/>
              <a:t>연구 범위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622F66-B81D-1870-4A32-9D133C698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대상 종목</a:t>
            </a:r>
            <a:r>
              <a:rPr lang="en-US" altLang="ko-KR" dirty="0"/>
              <a:t>: </a:t>
            </a:r>
            <a:r>
              <a:rPr lang="en" altLang="ko-KR" dirty="0"/>
              <a:t>NVIDIA (Ticker: NVDA)</a:t>
            </a:r>
          </a:p>
          <a:p>
            <a:pPr marL="0" indent="0">
              <a:buNone/>
            </a:pPr>
            <a:r>
              <a:rPr lang="ko-KR" altLang="en-US" dirty="0"/>
              <a:t>분석 기간</a:t>
            </a:r>
            <a:r>
              <a:rPr lang="en-US" altLang="ko-KR" dirty="0"/>
              <a:t>: 2024</a:t>
            </a:r>
            <a:r>
              <a:rPr lang="ko-KR" altLang="en-US" dirty="0"/>
              <a:t>년 </a:t>
            </a:r>
            <a:r>
              <a:rPr lang="en-US" altLang="ko-KR" dirty="0"/>
              <a:t>1</a:t>
            </a:r>
            <a:r>
              <a:rPr lang="ko-KR" altLang="en-US" dirty="0"/>
              <a:t>월 </a:t>
            </a:r>
            <a:r>
              <a:rPr lang="en-US" altLang="ko-KR" dirty="0"/>
              <a:t>1</a:t>
            </a:r>
            <a:r>
              <a:rPr lang="ko-KR" altLang="en-US" dirty="0"/>
              <a:t>일 </a:t>
            </a:r>
            <a:r>
              <a:rPr lang="en-US" altLang="ko-KR" dirty="0"/>
              <a:t>~ 2024</a:t>
            </a:r>
            <a:r>
              <a:rPr lang="ko-KR" altLang="en-US" dirty="0"/>
              <a:t>년 </a:t>
            </a:r>
            <a:r>
              <a:rPr lang="en-US" altLang="ko-KR" dirty="0"/>
              <a:t>12</a:t>
            </a:r>
            <a:r>
              <a:rPr lang="ko-KR" altLang="en-US" dirty="0"/>
              <a:t>월 </a:t>
            </a:r>
            <a:r>
              <a:rPr lang="en-US" altLang="ko-KR" dirty="0"/>
              <a:t>31</a:t>
            </a:r>
            <a:r>
              <a:rPr lang="ko-KR" altLang="en-US" dirty="0"/>
              <a:t>일 </a:t>
            </a:r>
            <a:r>
              <a:rPr lang="en-US" altLang="ko-KR" dirty="0"/>
              <a:t>(1</a:t>
            </a:r>
            <a:r>
              <a:rPr lang="ko-KR" altLang="en-US" dirty="0"/>
              <a:t>년간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ko-KR" altLang="en-US" dirty="0"/>
              <a:t>데이터 출처</a:t>
            </a:r>
            <a:r>
              <a:rPr lang="en-US" altLang="ko-KR" dirty="0"/>
              <a:t>: </a:t>
            </a:r>
            <a:r>
              <a:rPr lang="en" altLang="ko-KR" dirty="0"/>
              <a:t>Google News (</a:t>
            </a:r>
            <a:r>
              <a:rPr lang="ko-KR" altLang="en-US" dirty="0"/>
              <a:t>뉴스 데이터</a:t>
            </a:r>
            <a:r>
              <a:rPr lang="en-US" altLang="ko-KR" dirty="0"/>
              <a:t>), </a:t>
            </a:r>
            <a:br>
              <a:rPr lang="en-US" altLang="ko-KR" dirty="0"/>
            </a:br>
            <a:r>
              <a:rPr lang="en" altLang="ko-KR" dirty="0"/>
              <a:t>Yahoo Finance (</a:t>
            </a:r>
            <a:r>
              <a:rPr lang="ko-KR" altLang="en-US" dirty="0"/>
              <a:t>주가 데이터</a:t>
            </a:r>
            <a:r>
              <a:rPr lang="en-US" altLang="ko-KR" dirty="0"/>
              <a:t>)</a:t>
            </a: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5587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143860-885B-D8DF-E413-7DB2F5061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/>
              <a:t>데이터 수집 및 </a:t>
            </a:r>
            <a:r>
              <a:rPr kumimoji="1" lang="ko-KR" altLang="en-US" b="1" dirty="0" err="1"/>
              <a:t>전처리</a:t>
            </a:r>
            <a:r>
              <a:rPr kumimoji="1" lang="ko-KR" altLang="en-US" b="1" dirty="0"/>
              <a:t> 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1A513D-3420-D1C1-DF79-63B93444E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" altLang="ko-KR" dirty="0"/>
              <a:t>Python</a:t>
            </a:r>
            <a:r>
              <a:rPr lang="ko-KR" altLang="en-US" dirty="0"/>
              <a:t>의 </a:t>
            </a:r>
            <a:r>
              <a:rPr lang="en" altLang="ko-KR" dirty="0" err="1"/>
              <a:t>feedparser</a:t>
            </a:r>
            <a:r>
              <a:rPr lang="ko-KR" altLang="en-US" dirty="0"/>
              <a:t>와 </a:t>
            </a:r>
            <a:r>
              <a:rPr lang="en" altLang="ko-KR" dirty="0"/>
              <a:t>newspaper3k </a:t>
            </a:r>
            <a:r>
              <a:rPr lang="ko-KR" altLang="en-US" dirty="0"/>
              <a:t>라이브러리를 활용하여 </a:t>
            </a:r>
            <a:br>
              <a:rPr lang="en-US" altLang="ko-KR" dirty="0"/>
            </a:br>
            <a:r>
              <a:rPr lang="ko-KR" altLang="en-US" dirty="0"/>
              <a:t>뉴스 데이터를 수집하였습니다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수집 채널</a:t>
            </a:r>
            <a:r>
              <a:rPr lang="en-US" altLang="ko-KR" dirty="0"/>
              <a:t>: </a:t>
            </a:r>
            <a:r>
              <a:rPr lang="en" altLang="ko-KR" dirty="0"/>
              <a:t>Google News RSS</a:t>
            </a:r>
          </a:p>
          <a:p>
            <a:pPr marL="0" indent="0">
              <a:buNone/>
            </a:pPr>
            <a:r>
              <a:rPr lang="ko-KR" altLang="en-US" dirty="0"/>
              <a:t>검색 키워드</a:t>
            </a:r>
            <a:r>
              <a:rPr lang="en-US" altLang="ko-KR" dirty="0"/>
              <a:t>: "</a:t>
            </a:r>
            <a:r>
              <a:rPr lang="en" altLang="ko-KR" dirty="0"/>
              <a:t>NVIDIA" + (stock, earnings, AI, revenue </a:t>
            </a:r>
            <a:r>
              <a:rPr lang="ko-KR" altLang="en-US" dirty="0"/>
              <a:t>등 주요 키워드 조합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수집 결과</a:t>
            </a:r>
            <a:r>
              <a:rPr lang="en-US" altLang="ko-KR" dirty="0"/>
              <a:t>: 2024</a:t>
            </a:r>
            <a:r>
              <a:rPr lang="ko-KR" altLang="en-US" dirty="0"/>
              <a:t>년 </a:t>
            </a:r>
            <a:r>
              <a:rPr lang="en-US" altLang="ko-KR" dirty="0"/>
              <a:t>1</a:t>
            </a:r>
            <a:r>
              <a:rPr lang="ko-KR" altLang="en-US" dirty="0"/>
              <a:t>년 치 총 </a:t>
            </a:r>
            <a:r>
              <a:rPr lang="en-US" altLang="ko-KR" dirty="0"/>
              <a:t>1,193</a:t>
            </a:r>
            <a:r>
              <a:rPr lang="ko-KR" altLang="en-US" dirty="0"/>
              <a:t>건의 유효 뉴스 기사 제목 수집 완료</a:t>
            </a:r>
            <a:endParaRPr lang="en-US" altLang="ko-KR" dirty="0"/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5325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44F-42CF-44BA-3CEF-55918D2B2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/>
              <a:t>데이터 수집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52C035-02C0-029D-8210-32AFA27FF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ko-KR" altLang="en-US" dirty="0"/>
              <a:t>데이터 수집 전략</a:t>
            </a:r>
            <a:endParaRPr kumimoji="1" lang="en-US" altLang="ko-KR" dirty="0"/>
          </a:p>
          <a:p>
            <a:pPr marL="0" indent="0">
              <a:buNone/>
            </a:pPr>
            <a:r>
              <a:rPr lang="ko-KR" altLang="en-US" dirty="0"/>
              <a:t>이번 프로젝트는 </a:t>
            </a:r>
            <a:r>
              <a:rPr lang="en-US" altLang="ko-KR" dirty="0"/>
              <a:t>2024</a:t>
            </a:r>
            <a:r>
              <a:rPr lang="ko-KR" altLang="en-US" dirty="0"/>
              <a:t>년 </a:t>
            </a:r>
            <a:r>
              <a:rPr lang="en-US" altLang="ko-KR" dirty="0"/>
              <a:t>1</a:t>
            </a:r>
            <a:r>
              <a:rPr lang="ko-KR" altLang="en-US" dirty="0"/>
              <a:t>월부터 </a:t>
            </a:r>
            <a:r>
              <a:rPr lang="en-US" altLang="ko-KR" dirty="0"/>
              <a:t>12</a:t>
            </a:r>
            <a:r>
              <a:rPr lang="ko-KR" altLang="en-US" dirty="0"/>
              <a:t>월까지의 데이터를 필요로 합니다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br>
              <a:rPr lang="en-US" altLang="ko-KR" dirty="0"/>
            </a:br>
            <a:r>
              <a:rPr lang="ko-KR" altLang="en-US" dirty="0"/>
              <a:t>그러나 일반적인 뉴스 검색 </a:t>
            </a:r>
            <a:r>
              <a:rPr lang="en" altLang="ko-KR" dirty="0"/>
              <a:t>API</a:t>
            </a:r>
            <a:r>
              <a:rPr lang="ko-KR" altLang="en-US" dirty="0"/>
              <a:t>나 </a:t>
            </a:r>
            <a:r>
              <a:rPr lang="en" altLang="ko-KR" dirty="0"/>
              <a:t>RSS </a:t>
            </a:r>
            <a:r>
              <a:rPr lang="ko-KR" altLang="en-US" dirty="0" err="1"/>
              <a:t>피드는</a:t>
            </a:r>
            <a:r>
              <a:rPr lang="ko-KR" altLang="en-US" dirty="0"/>
              <a:t> 최신 기사</a:t>
            </a:r>
            <a:r>
              <a:rPr lang="en-US" altLang="ko-KR" dirty="0"/>
              <a:t> </a:t>
            </a:r>
            <a:r>
              <a:rPr lang="ko-KR" altLang="en-US" dirty="0"/>
              <a:t>위주로 제공되거나</a:t>
            </a:r>
            <a:r>
              <a:rPr lang="en-US" altLang="ko-KR" dirty="0"/>
              <a:t>, </a:t>
            </a:r>
            <a:r>
              <a:rPr lang="ko-KR" altLang="en-US" dirty="0"/>
              <a:t>한 번의 요청에 제공하는 데이터 개수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100</a:t>
            </a:r>
            <a:r>
              <a:rPr lang="ko-KR" altLang="en-US" dirty="0"/>
              <a:t>건</a:t>
            </a:r>
            <a:r>
              <a:rPr lang="en-US" altLang="ko-KR" dirty="0"/>
              <a:t>)</a:t>
            </a:r>
            <a:r>
              <a:rPr lang="ko-KR" altLang="en-US" dirty="0" err="1"/>
              <a:t>에</a:t>
            </a:r>
            <a:r>
              <a:rPr lang="ko-KR" altLang="en-US" dirty="0"/>
              <a:t> 제한이 있다는 한계가 있었습니다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1774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36D003-7D2F-E9C7-D282-2BFBBF194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/>
              <a:t>데이터 수집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7A3293-2BB7-8E26-8839-ECD86A616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이를 해결하기 위해 </a:t>
            </a:r>
            <a:r>
              <a:rPr lang="ko-KR" altLang="en-US" b="1" dirty="0"/>
              <a:t>시계열 분할 수집</a:t>
            </a:r>
            <a:r>
              <a:rPr lang="en" altLang="ko-KR" dirty="0"/>
              <a:t> </a:t>
            </a:r>
            <a:r>
              <a:rPr lang="ko-KR" altLang="en-US" dirty="0"/>
              <a:t>방식을 고안하여 적용하였습니다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단순 검색 시 </a:t>
            </a:r>
            <a:r>
              <a:rPr lang="en-US" altLang="ko-KR" dirty="0"/>
              <a:t>2024</a:t>
            </a:r>
            <a:r>
              <a:rPr lang="ko-KR" altLang="en-US" dirty="0"/>
              <a:t>년 전체 데이터 중 최신</a:t>
            </a:r>
            <a:r>
              <a:rPr lang="en-US" altLang="ko-KR" dirty="0"/>
              <a:t>(12</a:t>
            </a:r>
            <a:r>
              <a:rPr lang="ko-KR" altLang="en-US" dirty="0"/>
              <a:t>월</a:t>
            </a:r>
            <a:r>
              <a:rPr lang="en-US" altLang="ko-KR" dirty="0"/>
              <a:t>) </a:t>
            </a:r>
            <a:r>
              <a:rPr lang="ko-KR" altLang="en-US" dirty="0"/>
              <a:t>데이터만 편중되어 수집되었습니다</a:t>
            </a:r>
            <a:r>
              <a:rPr lang="en-US" altLang="ko-KR" dirty="0"/>
              <a:t>.</a:t>
            </a:r>
          </a:p>
          <a:p>
            <a:endParaRPr lang="en" altLang="ko-KR" dirty="0"/>
          </a:p>
          <a:p>
            <a:pPr marL="0" indent="0">
              <a:buNone/>
            </a:pPr>
            <a:r>
              <a:rPr lang="ko-KR" altLang="en-US" dirty="0"/>
              <a:t>그래서 </a:t>
            </a:r>
            <a:r>
              <a:rPr lang="en" altLang="ko-KR" dirty="0"/>
              <a:t>Python</a:t>
            </a:r>
            <a:r>
              <a:rPr lang="ko-KR" altLang="en-US" dirty="0"/>
              <a:t>의 </a:t>
            </a:r>
            <a:r>
              <a:rPr lang="ko-KR" altLang="en-US" dirty="0" err="1"/>
              <a:t>반복문</a:t>
            </a:r>
            <a:r>
              <a:rPr lang="en-US" altLang="ko-KR" dirty="0"/>
              <a:t>(</a:t>
            </a:r>
            <a:r>
              <a:rPr lang="en" altLang="ko-KR" dirty="0"/>
              <a:t>Loop)</a:t>
            </a:r>
            <a:r>
              <a:rPr lang="ko-KR" altLang="en-US" dirty="0"/>
              <a:t>을 활용하여 수집 구간을 </a:t>
            </a:r>
            <a:r>
              <a:rPr lang="en-US" altLang="ko-KR" dirty="0"/>
              <a:t>1</a:t>
            </a:r>
            <a:r>
              <a:rPr lang="ko-KR" altLang="en-US" dirty="0"/>
              <a:t>개월 단위</a:t>
            </a:r>
            <a:r>
              <a:rPr lang="en-US" altLang="ko-KR" dirty="0"/>
              <a:t>(</a:t>
            </a:r>
            <a:r>
              <a:rPr lang="en" altLang="ko-KR" dirty="0"/>
              <a:t>Month-by-Month)</a:t>
            </a:r>
            <a:r>
              <a:rPr lang="ko-KR" altLang="en-US" dirty="0"/>
              <a:t>로 쪼개어 총 </a:t>
            </a:r>
            <a:r>
              <a:rPr lang="en-US" altLang="ko-KR" dirty="0"/>
              <a:t>12</a:t>
            </a:r>
            <a:r>
              <a:rPr lang="ko-KR" altLang="en-US" dirty="0"/>
              <a:t>회 분할 요청을 수행하여 문제를 해결하였습니다</a:t>
            </a:r>
            <a:r>
              <a:rPr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854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5EB3AF-BB5A-79A4-161E-D330A34BD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/>
              <a:t>데이터 수집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9A6D94-5178-407F-2738-964102D6B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검색 쿼리에 </a:t>
            </a:r>
            <a:r>
              <a:rPr lang="en" altLang="ko-KR" dirty="0"/>
              <a:t>after:2024-01-01 before:2024-01-31</a:t>
            </a:r>
            <a:r>
              <a:rPr lang="ko-KR" altLang="en-US" dirty="0"/>
              <a:t>과 같은 날짜 지정 연산자를 동적으로 삽입하였습니다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" altLang="ko-KR" dirty="0"/>
              <a:t>calendar </a:t>
            </a:r>
            <a:r>
              <a:rPr lang="ko-KR" altLang="en-US" dirty="0"/>
              <a:t>라이브러리를 활용하여 각 월의 마지막 날짜</a:t>
            </a:r>
            <a:r>
              <a:rPr lang="en-US" altLang="ko-KR" dirty="0"/>
              <a:t>(29</a:t>
            </a:r>
            <a:r>
              <a:rPr lang="ko-KR" altLang="en-US" dirty="0"/>
              <a:t>일</a:t>
            </a:r>
            <a:r>
              <a:rPr lang="en-US" altLang="ko-KR" dirty="0"/>
              <a:t>, 30</a:t>
            </a:r>
            <a:r>
              <a:rPr lang="ko-KR" altLang="en-US" dirty="0"/>
              <a:t>일</a:t>
            </a:r>
            <a:r>
              <a:rPr lang="en-US" altLang="ko-KR" dirty="0"/>
              <a:t>, 31</a:t>
            </a:r>
            <a:r>
              <a:rPr lang="ko-KR" altLang="en-US" dirty="0"/>
              <a:t>일</a:t>
            </a:r>
            <a:r>
              <a:rPr lang="en-US" altLang="ko-KR" dirty="0"/>
              <a:t>)</a:t>
            </a:r>
            <a:r>
              <a:rPr lang="ko-KR" altLang="en-US" dirty="0" err="1"/>
              <a:t>를</a:t>
            </a:r>
            <a:r>
              <a:rPr lang="ko-KR" altLang="en-US" dirty="0"/>
              <a:t> 자동으로 계산하여 쿼리의 정확도를 높였습니다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이 결과로</a:t>
            </a:r>
            <a:r>
              <a:rPr lang="en-US" altLang="ko-KR" dirty="0"/>
              <a:t> </a:t>
            </a:r>
            <a:r>
              <a:rPr lang="ko-KR" altLang="en-US" dirty="0"/>
              <a:t>특정 시기에 데이터가 쏠리는 현상 없이</a:t>
            </a:r>
            <a:r>
              <a:rPr lang="en-US" altLang="ko-KR" dirty="0"/>
              <a:t>, 1</a:t>
            </a:r>
            <a:r>
              <a:rPr lang="ko-KR" altLang="en-US" dirty="0"/>
              <a:t>월부터 </a:t>
            </a:r>
            <a:r>
              <a:rPr lang="en-US" altLang="ko-KR" dirty="0"/>
              <a:t>12</a:t>
            </a:r>
            <a:r>
              <a:rPr lang="ko-KR" altLang="en-US" dirty="0"/>
              <a:t>월까지 매월 고르게 분포된</a:t>
            </a:r>
            <a:r>
              <a:rPr lang="en-US" altLang="ko-KR" dirty="0"/>
              <a:t>(</a:t>
            </a:r>
            <a:r>
              <a:rPr lang="ko-KR" altLang="en-US" dirty="0"/>
              <a:t>월 </a:t>
            </a:r>
            <a:r>
              <a:rPr lang="en-US" altLang="ko-KR" dirty="0"/>
              <a:t>100</a:t>
            </a:r>
            <a:r>
              <a:rPr lang="ko-KR" altLang="en-US" dirty="0"/>
              <a:t>건의 뉴스</a:t>
            </a:r>
            <a:r>
              <a:rPr lang="en-US" altLang="ko-KR" dirty="0"/>
              <a:t>)</a:t>
            </a:r>
            <a:r>
              <a:rPr lang="ko-KR" altLang="en-US" dirty="0"/>
              <a:t> 총 </a:t>
            </a:r>
            <a:r>
              <a:rPr lang="en-US" altLang="ko-KR" dirty="0"/>
              <a:t>1,193</a:t>
            </a:r>
            <a:r>
              <a:rPr lang="ko-KR" altLang="en-US" dirty="0"/>
              <a:t>건의 </a:t>
            </a:r>
            <a:br>
              <a:rPr lang="en-US" altLang="ko-KR" dirty="0"/>
            </a:br>
            <a:r>
              <a:rPr lang="ko-KR" altLang="en-US" dirty="0"/>
              <a:t>균형 잡힌 뉴스 데이터셋을 확보하였습니다</a:t>
            </a:r>
            <a:r>
              <a:rPr lang="en-US" altLang="ko-KR" dirty="0"/>
              <a:t>.</a:t>
            </a: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2506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4B0309-1E52-1093-A78C-D583886E0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/>
              <a:t>데이터 수집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D0C699-FA92-26B4-4DB9-203A4C6F1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8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서버 차단</a:t>
            </a:r>
            <a:r>
              <a:rPr lang="en-US" altLang="ko-KR" dirty="0"/>
              <a:t>(</a:t>
            </a:r>
            <a:r>
              <a:rPr lang="en" altLang="ko-KR" dirty="0"/>
              <a:t>HTTP 429 Error) </a:t>
            </a:r>
            <a:r>
              <a:rPr lang="ko-KR" altLang="en-US" dirty="0"/>
              <a:t>회피</a:t>
            </a:r>
          </a:p>
          <a:p>
            <a:pPr marL="0" indent="0">
              <a:buNone/>
            </a:pPr>
            <a:r>
              <a:rPr lang="ko-KR" altLang="en-US" dirty="0"/>
              <a:t>짧은 시간에 다량의 요청을 보낼 경우 구글 서버로부터 </a:t>
            </a:r>
            <a:r>
              <a:rPr lang="en-US" altLang="ko-KR" dirty="0"/>
              <a:t>'</a:t>
            </a:r>
            <a:r>
              <a:rPr lang="en" altLang="ko-KR" dirty="0"/>
              <a:t>Too Many Requests' </a:t>
            </a:r>
            <a:r>
              <a:rPr lang="ko-KR" altLang="en-US" dirty="0"/>
              <a:t>에러가 반환되며 수집이 차단되는 문제가 있었습니다</a:t>
            </a:r>
            <a:r>
              <a:rPr lang="en-US" altLang="ko-KR" dirty="0"/>
              <a:t>. 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그래서 찾은 해결책은</a:t>
            </a:r>
            <a:r>
              <a:rPr lang="en-US" altLang="ko-KR" dirty="0"/>
              <a:t> </a:t>
            </a:r>
            <a:r>
              <a:rPr lang="en" altLang="ko-KR" dirty="0" err="1"/>
              <a:t>time.sleep</a:t>
            </a:r>
            <a:r>
              <a:rPr lang="en" altLang="ko-KR" dirty="0"/>
              <a:t>() </a:t>
            </a:r>
            <a:r>
              <a:rPr lang="ko-KR" altLang="en-US" dirty="0"/>
              <a:t>함수를 사용하여 요청 간에 </a:t>
            </a:r>
            <a:r>
              <a:rPr lang="en-US" altLang="ko-KR" dirty="0"/>
              <a:t>0.5</a:t>
            </a:r>
            <a:r>
              <a:rPr lang="ko-KR" altLang="en-US" dirty="0"/>
              <a:t>초</a:t>
            </a:r>
            <a:r>
              <a:rPr lang="en-US" altLang="ko-KR" dirty="0"/>
              <a:t>~2.0</a:t>
            </a:r>
            <a:r>
              <a:rPr lang="ko-KR" altLang="en-US" dirty="0"/>
              <a:t>초의 </a:t>
            </a:r>
            <a:r>
              <a:rPr lang="ko-KR" altLang="en-US" dirty="0" err="1"/>
              <a:t>랜덤한</a:t>
            </a:r>
            <a:r>
              <a:rPr lang="ko-KR" altLang="en-US" dirty="0"/>
              <a:t> 지연 시간을 부여하면</a:t>
            </a:r>
            <a:r>
              <a:rPr lang="en-US" altLang="ko-KR" dirty="0"/>
              <a:t> </a:t>
            </a:r>
            <a:r>
              <a:rPr lang="ko-KR" altLang="en-US" dirty="0"/>
              <a:t>사람의 검색 행위처럼 보이도록 트래픽 속도를 조절이 가능하다는 것을 알게 되었습니다</a:t>
            </a:r>
            <a:r>
              <a:rPr lang="en-US" altLang="ko-KR" dirty="0"/>
              <a:t>. </a:t>
            </a:r>
            <a:r>
              <a:rPr lang="ko-KR" altLang="en-US" dirty="0"/>
              <a:t>추가로 </a:t>
            </a:r>
            <a:r>
              <a:rPr lang="ko-KR" altLang="en-US" dirty="0" err="1"/>
              <a:t>구글링</a:t>
            </a:r>
            <a:r>
              <a:rPr lang="ko-KR" altLang="en-US" dirty="0"/>
              <a:t> 해본 결과 </a:t>
            </a:r>
            <a:r>
              <a:rPr lang="en" altLang="ko-KR" dirty="0"/>
              <a:t>HTTP </a:t>
            </a:r>
            <a:r>
              <a:rPr lang="ko-KR" altLang="en-US" dirty="0"/>
              <a:t>요청 헤더에 </a:t>
            </a:r>
            <a:r>
              <a:rPr lang="en" altLang="ko-KR" dirty="0"/>
              <a:t>User-Agent </a:t>
            </a:r>
            <a:r>
              <a:rPr lang="ko-KR" altLang="en-US" dirty="0"/>
              <a:t>정보를 브라우저 환경으로 위장하여 차단을 우회할 수 있다는 것을 알게 되었습니다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2951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E92B7A-E98B-FAA7-BBE4-3386BAA63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/>
              <a:t>데이터 </a:t>
            </a:r>
            <a:r>
              <a:rPr kumimoji="1" lang="ko-KR" altLang="en-US" b="1" dirty="0" err="1"/>
              <a:t>전처리</a:t>
            </a:r>
            <a:r>
              <a:rPr kumimoji="1" lang="en-US" altLang="ko-KR" b="1" dirty="0"/>
              <a:t>(</a:t>
            </a:r>
            <a:r>
              <a:rPr kumimoji="1" lang="ko-KR" altLang="en-US" b="1" dirty="0"/>
              <a:t>날짜 데이터 표준화</a:t>
            </a:r>
            <a:r>
              <a:rPr kumimoji="1" lang="en-US" altLang="ko-KR" b="1" dirty="0"/>
              <a:t>)</a:t>
            </a:r>
            <a:endParaRPr kumimoji="1"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DEAAFE-3F96-952D-8B83-77B28DA05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수집된 비정형 텍스트 데이터를 시계열 분석이 가능한 형태로 가공하였습니다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kumimoji="1" lang="en-US" altLang="ko-KR" dirty="0"/>
          </a:p>
          <a:p>
            <a:pPr marL="0" indent="0">
              <a:buNone/>
            </a:pPr>
            <a:r>
              <a:rPr lang="ko-KR" altLang="en-US" dirty="0"/>
              <a:t>날짜 데이터 표준화</a:t>
            </a:r>
          </a:p>
          <a:p>
            <a:pPr marL="0" indent="0">
              <a:buNone/>
            </a:pPr>
            <a:r>
              <a:rPr lang="en" altLang="ko-KR" dirty="0"/>
              <a:t>RSS </a:t>
            </a:r>
            <a:r>
              <a:rPr lang="ko-KR" altLang="en-US" dirty="0" err="1"/>
              <a:t>피드에서</a:t>
            </a:r>
            <a:r>
              <a:rPr lang="ko-KR" altLang="en-US" dirty="0"/>
              <a:t> 제공하는 날짜 형식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" altLang="ko-KR" dirty="0"/>
              <a:t>Fri, 14 Dec 2024 10:00:00 GMT)</a:t>
            </a:r>
            <a:r>
              <a:rPr lang="ko-KR" altLang="en-US" dirty="0"/>
              <a:t>은 텍스트 형태이므로 연산이 불가능하였습니다</a:t>
            </a:r>
            <a:r>
              <a:rPr lang="en-US" altLang="ko-KR" dirty="0"/>
              <a:t>. </a:t>
            </a:r>
            <a:r>
              <a:rPr lang="ko-KR" altLang="en-US" dirty="0"/>
              <a:t>그래서 </a:t>
            </a:r>
            <a:r>
              <a:rPr lang="en" altLang="ko-KR" dirty="0"/>
              <a:t>Python</a:t>
            </a:r>
            <a:r>
              <a:rPr lang="ko-KR" altLang="en-US" dirty="0"/>
              <a:t>의 </a:t>
            </a:r>
            <a:r>
              <a:rPr lang="en" altLang="ko-KR" dirty="0"/>
              <a:t>datetime </a:t>
            </a:r>
            <a:r>
              <a:rPr lang="ko-KR" altLang="en-US" dirty="0"/>
              <a:t>객체로 변환한 뒤</a:t>
            </a:r>
            <a:r>
              <a:rPr lang="en-US" altLang="ko-KR" dirty="0"/>
              <a:t>, </a:t>
            </a:r>
            <a:r>
              <a:rPr lang="ko-KR" altLang="en-US" dirty="0"/>
              <a:t>주가 데이터와의 결합을 위해 시간대 정보를 제거하고 </a:t>
            </a:r>
            <a:r>
              <a:rPr lang="en" altLang="ko-KR" dirty="0"/>
              <a:t>YYYY-MM-DD </a:t>
            </a:r>
            <a:r>
              <a:rPr lang="ko-KR" altLang="en-US" dirty="0"/>
              <a:t>형식으로 통일하여 해결하였습니다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4618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21AD8-3F09-0A46-8E72-85415F365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/>
              <a:t>데이터 </a:t>
            </a:r>
            <a:r>
              <a:rPr kumimoji="1" lang="ko-KR" altLang="en-US" b="1" dirty="0" err="1"/>
              <a:t>전처리</a:t>
            </a:r>
            <a:r>
              <a:rPr kumimoji="1" lang="en-US" altLang="ko-KR" b="1" dirty="0"/>
              <a:t>(</a:t>
            </a:r>
            <a:r>
              <a:rPr kumimoji="1" lang="ko-KR" altLang="en-US" b="1" dirty="0"/>
              <a:t>노이즈 제거 및 필터링</a:t>
            </a:r>
            <a:r>
              <a:rPr kumimoji="1" lang="en-US" altLang="ko-KR" b="1" dirty="0"/>
              <a:t>)</a:t>
            </a:r>
            <a:endParaRPr kumimoji="1"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FC658-F526-467F-463A-F39072414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중복 제거</a:t>
            </a:r>
          </a:p>
          <a:p>
            <a:pPr marL="0" indent="0">
              <a:buNone/>
            </a:pPr>
            <a:r>
              <a:rPr lang="ko-KR" altLang="en-US" dirty="0"/>
              <a:t>여러 언론사에서 동일한 </a:t>
            </a:r>
            <a:r>
              <a:rPr lang="en" altLang="ko-KR" dirty="0"/>
              <a:t>AP/Reuters </a:t>
            </a:r>
            <a:r>
              <a:rPr lang="ko-KR" altLang="en-US" dirty="0"/>
              <a:t>통신사의 기사를 전재하는 경우</a:t>
            </a:r>
            <a:r>
              <a:rPr lang="en-US" altLang="ko-KR" dirty="0"/>
              <a:t>, </a:t>
            </a:r>
            <a:r>
              <a:rPr lang="ko-KR" altLang="en-US" dirty="0"/>
              <a:t>제목이 </a:t>
            </a:r>
            <a:r>
              <a:rPr lang="en-US" altLang="ko-KR" dirty="0"/>
              <a:t>100% </a:t>
            </a:r>
            <a:r>
              <a:rPr lang="ko-KR" altLang="en-US" dirty="0"/>
              <a:t>일치하는 데이터는 </a:t>
            </a:r>
            <a:r>
              <a:rPr lang="en" altLang="ko-KR" dirty="0" err="1"/>
              <a:t>drop_duplicates</a:t>
            </a:r>
            <a:r>
              <a:rPr lang="ko-KR" altLang="en-US" dirty="0" err="1"/>
              <a:t>를</a:t>
            </a:r>
            <a:r>
              <a:rPr lang="ko-KR" altLang="en-US" dirty="0"/>
              <a:t> 통해 제거하여 분석 왜곡을 방지하였습니다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 err="1"/>
              <a:t>결측치</a:t>
            </a:r>
            <a:r>
              <a:rPr lang="ko-KR" altLang="en-US" dirty="0"/>
              <a:t> 처리</a:t>
            </a:r>
          </a:p>
          <a:p>
            <a:pPr marL="0" indent="0">
              <a:buNone/>
            </a:pPr>
            <a:r>
              <a:rPr lang="en" altLang="ko-KR" dirty="0"/>
              <a:t>newspaper3k </a:t>
            </a:r>
            <a:r>
              <a:rPr lang="ko-KR" altLang="en-US" dirty="0"/>
              <a:t>라이브러리로 본문 추출이 실패한 경우</a:t>
            </a:r>
            <a:r>
              <a:rPr lang="en-US" altLang="ko-KR" dirty="0"/>
              <a:t>, </a:t>
            </a:r>
            <a:r>
              <a:rPr lang="ko-KR" altLang="en-US" dirty="0"/>
              <a:t>사실상</a:t>
            </a:r>
            <a:r>
              <a:rPr lang="en-US" altLang="ko-KR" dirty="0"/>
              <a:t>.. </a:t>
            </a:r>
            <a:r>
              <a:rPr lang="ko-KR" altLang="en-US" dirty="0"/>
              <a:t>가장 중요한 기사 제목만으로도 감성 분석이 가능하다고 </a:t>
            </a:r>
            <a:br>
              <a:rPr lang="en-US" altLang="ko-KR" dirty="0"/>
            </a:br>
            <a:r>
              <a:rPr lang="ko-KR" altLang="en-US" dirty="0"/>
              <a:t>판단하여 해당 데이터를 유지하였습니다</a:t>
            </a:r>
            <a:r>
              <a:rPr lang="en-US" altLang="ko-KR" dirty="0"/>
              <a:t>.</a:t>
            </a: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5268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2C3C94-A2EF-0E17-096E-2FB05DC1F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/>
              <a:t>데이터 </a:t>
            </a:r>
            <a:r>
              <a:rPr kumimoji="1" lang="ko-KR" altLang="en-US" b="1" dirty="0" err="1"/>
              <a:t>전처리</a:t>
            </a:r>
            <a:r>
              <a:rPr kumimoji="1" lang="en-US" altLang="ko-KR" b="1" dirty="0"/>
              <a:t>(</a:t>
            </a:r>
            <a:r>
              <a:rPr lang="ko-KR" altLang="en-US" b="1" dirty="0"/>
              <a:t>감성 사전 구축 및 점수화</a:t>
            </a:r>
            <a:r>
              <a:rPr lang="en-US" altLang="ko-KR" b="1" dirty="0"/>
              <a:t>)</a:t>
            </a:r>
            <a:endParaRPr kumimoji="1"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442A7E-800D-FF2D-A86C-56FBC84BF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26698" cy="4351338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주식 시장에 특화된 도메인 사전을 직접 정의하여 사용해보았습니다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사전 정의</a:t>
            </a:r>
          </a:p>
          <a:p>
            <a:pPr marL="0" indent="0">
              <a:buNone/>
            </a:pPr>
            <a:r>
              <a:rPr lang="en" altLang="ko-KR" dirty="0"/>
              <a:t>Positive(+): Surge(</a:t>
            </a:r>
            <a:r>
              <a:rPr lang="ko-KR" altLang="en-US" dirty="0"/>
              <a:t>급등</a:t>
            </a:r>
            <a:r>
              <a:rPr lang="en-US" altLang="ko-KR" dirty="0"/>
              <a:t>), </a:t>
            </a:r>
            <a:r>
              <a:rPr lang="en" altLang="ko-KR" dirty="0"/>
              <a:t>Soar(</a:t>
            </a:r>
            <a:r>
              <a:rPr lang="ko-KR" altLang="en-US" dirty="0"/>
              <a:t>치솟다</a:t>
            </a:r>
            <a:r>
              <a:rPr lang="en-US" altLang="ko-KR" dirty="0"/>
              <a:t>), </a:t>
            </a:r>
            <a:r>
              <a:rPr lang="en" altLang="ko-KR" dirty="0"/>
              <a:t>Beat(</a:t>
            </a:r>
            <a:r>
              <a:rPr lang="ko-KR" altLang="en-US" dirty="0"/>
              <a:t>상회하다</a:t>
            </a:r>
            <a:r>
              <a:rPr lang="en-US" altLang="ko-KR" dirty="0"/>
              <a:t>), </a:t>
            </a:r>
            <a:r>
              <a:rPr lang="en" altLang="ko-KR" dirty="0"/>
              <a:t>AI, Growth </a:t>
            </a:r>
            <a:r>
              <a:rPr lang="ko-KR" altLang="en-US" dirty="0"/>
              <a:t>등 </a:t>
            </a:r>
            <a:r>
              <a:rPr lang="en-US" altLang="ko-KR" dirty="0"/>
              <a:t>30</a:t>
            </a:r>
            <a:r>
              <a:rPr lang="ko-KR" altLang="en-US" dirty="0"/>
              <a:t>개 핵심어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" altLang="ko-KR" dirty="0"/>
              <a:t>Negative(-): Plunge(</a:t>
            </a:r>
            <a:r>
              <a:rPr lang="ko-KR" altLang="en-US" dirty="0"/>
              <a:t>급락</a:t>
            </a:r>
            <a:r>
              <a:rPr lang="en-US" altLang="ko-KR" dirty="0"/>
              <a:t>), </a:t>
            </a:r>
            <a:r>
              <a:rPr lang="en" altLang="ko-KR" dirty="0"/>
              <a:t>Miss(</a:t>
            </a:r>
            <a:r>
              <a:rPr lang="ko-KR" altLang="en-US" dirty="0"/>
              <a:t>하회하다</a:t>
            </a:r>
            <a:r>
              <a:rPr lang="en-US" altLang="ko-KR" dirty="0"/>
              <a:t>), </a:t>
            </a:r>
            <a:r>
              <a:rPr lang="en" altLang="ko-KR" dirty="0"/>
              <a:t>Ban(</a:t>
            </a:r>
            <a:r>
              <a:rPr lang="ko-KR" altLang="en-US" dirty="0"/>
              <a:t>규제</a:t>
            </a:r>
            <a:r>
              <a:rPr lang="en-US" altLang="ko-KR" dirty="0"/>
              <a:t>), </a:t>
            </a:r>
            <a:r>
              <a:rPr lang="en" altLang="ko-KR" dirty="0"/>
              <a:t>Delay(</a:t>
            </a:r>
            <a:r>
              <a:rPr lang="ko-KR" altLang="en-US" dirty="0"/>
              <a:t>지연</a:t>
            </a:r>
            <a:r>
              <a:rPr lang="en-US" altLang="ko-KR" dirty="0"/>
              <a:t>), </a:t>
            </a:r>
            <a:r>
              <a:rPr lang="en" altLang="ko-KR" dirty="0"/>
              <a:t>Risk </a:t>
            </a:r>
            <a:r>
              <a:rPr lang="ko-KR" altLang="en-US" dirty="0"/>
              <a:t>등 </a:t>
            </a:r>
            <a:r>
              <a:rPr lang="en-US" altLang="ko-KR" dirty="0"/>
              <a:t>28</a:t>
            </a:r>
            <a:r>
              <a:rPr lang="ko-KR" altLang="en-US" dirty="0"/>
              <a:t>개 핵심어</a:t>
            </a:r>
            <a:endParaRPr lang="en-US" altLang="ko-KR" dirty="0"/>
          </a:p>
          <a:p>
            <a:pPr marL="0" indent="0">
              <a:buNone/>
            </a:pP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0407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AD9B43-9B7D-80F6-313E-2268D2F21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/>
              <a:t>데이터 </a:t>
            </a:r>
            <a:r>
              <a:rPr kumimoji="1" lang="ko-KR" altLang="en-US" b="1" dirty="0" err="1"/>
              <a:t>전처리</a:t>
            </a:r>
            <a:r>
              <a:rPr kumimoji="1" lang="en-US" altLang="ko-KR" b="1" dirty="0"/>
              <a:t>(</a:t>
            </a:r>
            <a:r>
              <a:rPr kumimoji="1" lang="ko-KR" altLang="en-US" b="1" dirty="0"/>
              <a:t>감성 사전 구축 및 점수화</a:t>
            </a:r>
            <a:r>
              <a:rPr kumimoji="1" lang="en-US" altLang="ko-KR" b="1" dirty="0"/>
              <a:t>)</a:t>
            </a:r>
            <a:endParaRPr kumimoji="1"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8C1F70-9BB1-186B-EF9B-CDCFA5681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점수 산출</a:t>
            </a:r>
            <a:br>
              <a:rPr lang="en-US" altLang="ko-KR" dirty="0"/>
            </a:br>
            <a:r>
              <a:rPr lang="ko-KR" altLang="en-US" dirty="0"/>
              <a:t>기사 제목에 긍정 단어가 포함되면 </a:t>
            </a:r>
            <a:r>
              <a:rPr lang="en-US" altLang="ko-KR" dirty="0"/>
              <a:t>+1</a:t>
            </a:r>
            <a:r>
              <a:rPr lang="ko-KR" altLang="en-US" dirty="0"/>
              <a:t>점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부정 단어가 포함되면 </a:t>
            </a:r>
            <a:r>
              <a:rPr lang="en-US" altLang="ko-KR" dirty="0"/>
              <a:t>-1</a:t>
            </a:r>
            <a:r>
              <a:rPr lang="ko-KR" altLang="en-US" dirty="0"/>
              <a:t>점을 부여하고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이를 날짜별로 합산하여 일일 뉴스 감성 지수를 산출하였습니다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주간 집계</a:t>
            </a:r>
            <a:br>
              <a:rPr lang="en-US" altLang="ko-KR" dirty="0"/>
            </a:br>
            <a:r>
              <a:rPr lang="ko-KR" altLang="en-US" dirty="0"/>
              <a:t>일별 데이터의 불규칙성</a:t>
            </a:r>
            <a:r>
              <a:rPr lang="en-US" altLang="ko-KR" dirty="0"/>
              <a:t>(</a:t>
            </a:r>
            <a:r>
              <a:rPr lang="en" altLang="ko-KR" dirty="0"/>
              <a:t>Noise)</a:t>
            </a:r>
            <a:r>
              <a:rPr lang="ko-KR" altLang="en-US" dirty="0"/>
              <a:t>을 줄이기 위해 데이터를 </a:t>
            </a:r>
            <a:br>
              <a:rPr lang="en-US" altLang="ko-KR" dirty="0"/>
            </a:br>
            <a:r>
              <a:rPr lang="ko-KR" altLang="en-US" dirty="0"/>
              <a:t>주간 단위로 </a:t>
            </a:r>
            <a:r>
              <a:rPr lang="ko-KR" altLang="en-US" dirty="0" err="1"/>
              <a:t>재집계하여</a:t>
            </a:r>
            <a:r>
              <a:rPr lang="ko-KR" altLang="en-US" dirty="0"/>
              <a:t> 주가 흐름과의 장기적 추세를 비교하였습니다</a:t>
            </a:r>
            <a:r>
              <a:rPr lang="en-US" altLang="ko-KR" dirty="0"/>
              <a:t>.</a:t>
            </a: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6236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CDCA9D-EDFA-BEBC-D92F-0BC7B1FB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내용 개체 틀 4" descr="텍스트, 도표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5A24EF3-09BE-3542-8F05-AD407CEFF1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806" y="287057"/>
            <a:ext cx="11712388" cy="6205818"/>
          </a:xfrm>
        </p:spPr>
      </p:pic>
    </p:spTree>
    <p:extLst>
      <p:ext uri="{BB962C8B-B14F-4D97-AF65-F5344CB8AC3E}">
        <p14:creationId xmlns:p14="http://schemas.microsoft.com/office/powerpoint/2010/main" val="3882742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AD3330-0874-8427-5F07-B5F7E85B4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/>
              <a:t>분석 결과</a:t>
            </a:r>
            <a:r>
              <a:rPr kumimoji="1" lang="en-US" altLang="ko-KR" b="1" dirty="0"/>
              <a:t>(</a:t>
            </a:r>
            <a:r>
              <a:rPr kumimoji="1" lang="ko-KR" altLang="en-US" b="1" dirty="0"/>
              <a:t>상관관계 분석</a:t>
            </a:r>
            <a:r>
              <a:rPr kumimoji="1" lang="en-US" altLang="ko-KR" b="1" dirty="0"/>
              <a:t>)</a:t>
            </a:r>
            <a:endParaRPr kumimoji="1"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8D62CD-7F99-8673-C12B-969AA6F13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14463" cy="4351338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r>
              <a:rPr lang="ko-KR" altLang="en-US" dirty="0"/>
              <a:t> 및 주간</a:t>
            </a:r>
            <a:r>
              <a:rPr lang="en-US" altLang="ko-KR" dirty="0"/>
              <a:t> </a:t>
            </a:r>
            <a:r>
              <a:rPr lang="ko-KR" altLang="en-US" dirty="0" err="1"/>
              <a:t>리샘플링을</a:t>
            </a:r>
            <a:r>
              <a:rPr lang="ko-KR" altLang="en-US" dirty="0"/>
              <a:t> 거쳐 뉴스 감성 지수와</a:t>
            </a:r>
            <a:br>
              <a:rPr lang="en-US" altLang="ko-KR" dirty="0"/>
            </a:br>
            <a:r>
              <a:rPr lang="ko-KR" altLang="en-US" dirty="0"/>
              <a:t>주가 간의 </a:t>
            </a:r>
            <a:r>
              <a:rPr lang="ko-KR" altLang="en-US" dirty="0" err="1"/>
              <a:t>피어슨</a:t>
            </a:r>
            <a:r>
              <a:rPr lang="ko-KR" altLang="en-US" dirty="0"/>
              <a:t> 상관계수를 산출한 결과는 아래와 같습니다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b="1" dirty="0"/>
              <a:t>주간</a:t>
            </a:r>
            <a:r>
              <a:rPr lang="en" altLang="ko-KR" b="1" dirty="0"/>
              <a:t> </a:t>
            </a:r>
            <a:r>
              <a:rPr lang="ko-KR" altLang="en-US" b="1" dirty="0"/>
              <a:t>상관계수</a:t>
            </a:r>
            <a:r>
              <a:rPr lang="en-US" altLang="ko-KR" b="1" dirty="0"/>
              <a:t>:</a:t>
            </a:r>
            <a:r>
              <a:rPr lang="ko-KR" altLang="en-US" b="1" dirty="0"/>
              <a:t> </a:t>
            </a:r>
            <a:r>
              <a:rPr lang="en-US" altLang="ko-KR" b="1" dirty="0"/>
              <a:t>0.066</a:t>
            </a:r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r>
              <a:rPr kumimoji="1" lang="ko-KR" altLang="en-US" dirty="0"/>
              <a:t>기존의 단순 일별 </a:t>
            </a:r>
            <a:r>
              <a:rPr lang="ko-KR" altLang="en-US" dirty="0"/>
              <a:t>분석과 달리</a:t>
            </a:r>
            <a:r>
              <a:rPr lang="en-US" altLang="ko-KR" dirty="0"/>
              <a:t>, </a:t>
            </a:r>
            <a:r>
              <a:rPr lang="ko-KR" altLang="en-US" dirty="0"/>
              <a:t>주간 단위로 노이즈를 제거한 결과 </a:t>
            </a:r>
            <a:r>
              <a:rPr lang="en-US" altLang="ko-KR" b="1" dirty="0"/>
              <a:t>0.066</a:t>
            </a:r>
            <a:r>
              <a:rPr lang="ko-KR" altLang="en-US" dirty="0"/>
              <a:t>의 양의 상관계수가 도출되었습니다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1194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59A46C-C718-41E9-FB09-7E3C7DD66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/>
              <a:t>분석 결과</a:t>
            </a:r>
            <a:r>
              <a:rPr kumimoji="1" lang="en-US" altLang="ko-KR" b="1" dirty="0"/>
              <a:t>(</a:t>
            </a:r>
            <a:r>
              <a:rPr kumimoji="1" lang="ko-KR" altLang="en-US" b="1" dirty="0"/>
              <a:t>상관관계 분석</a:t>
            </a:r>
            <a:r>
              <a:rPr kumimoji="1" lang="en-US" altLang="ko-KR" b="1" dirty="0"/>
              <a:t>)</a:t>
            </a:r>
            <a:endParaRPr kumimoji="1"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E4B075-C93C-B4EF-9EC9-593D5CECE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937488" cy="49431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상관계수가 낮게 나온 이유는 두 가지로 해석됩니다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첫째는 </a:t>
            </a:r>
            <a:r>
              <a:rPr lang="ko-KR" altLang="en-US" b="1" dirty="0"/>
              <a:t>매크로 변수의 지배력</a:t>
            </a:r>
            <a:r>
              <a:rPr lang="ko-KR" altLang="en-US" dirty="0"/>
              <a:t>입니다</a:t>
            </a:r>
            <a:r>
              <a:rPr lang="en-US" altLang="ko-KR" dirty="0"/>
              <a:t>. 2024</a:t>
            </a:r>
            <a:r>
              <a:rPr lang="ko-KR" altLang="en-US" dirty="0"/>
              <a:t>년은 개별 기업의 </a:t>
            </a:r>
            <a:br>
              <a:rPr lang="en-US" altLang="ko-KR" dirty="0"/>
            </a:br>
            <a:r>
              <a:rPr lang="ko-KR" altLang="en-US" dirty="0"/>
              <a:t>뉴스보다 </a:t>
            </a:r>
            <a:r>
              <a:rPr lang="en-US" altLang="ko-KR" dirty="0"/>
              <a:t>'</a:t>
            </a:r>
            <a:r>
              <a:rPr lang="ko-KR" altLang="en-US" dirty="0"/>
              <a:t>미국 금리 향방</a:t>
            </a:r>
            <a:r>
              <a:rPr lang="en-US" altLang="ko-KR" dirty="0"/>
              <a:t>'</a:t>
            </a:r>
            <a:r>
              <a:rPr lang="ko-KR" altLang="en-US" dirty="0"/>
              <a:t>이나 </a:t>
            </a:r>
            <a:r>
              <a:rPr lang="en-US" altLang="ko-KR" dirty="0"/>
              <a:t>'</a:t>
            </a:r>
            <a:r>
              <a:rPr lang="en" altLang="ko-KR" dirty="0"/>
              <a:t>AI </a:t>
            </a:r>
            <a:r>
              <a:rPr lang="ko-KR" altLang="en-US" dirty="0"/>
              <a:t>산업 전체의 수급 쏠림</a:t>
            </a:r>
            <a:r>
              <a:rPr lang="en-US" altLang="ko-KR" dirty="0"/>
              <a:t>'</a:t>
            </a:r>
            <a:r>
              <a:rPr lang="ko-KR" altLang="en-US" dirty="0"/>
              <a:t>과 같은 거시적 요인이 엔비디아 주가에 더 강력한 영향력을 준 것 같습니다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둘째는 </a:t>
            </a:r>
            <a:r>
              <a:rPr lang="ko-KR" altLang="en-US" b="1" dirty="0"/>
              <a:t>재료의 소멸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뉴스가 나왔을 땐 이미 주가가 </a:t>
            </a:r>
            <a:br>
              <a:rPr lang="en-US" altLang="ko-KR" dirty="0"/>
            </a:br>
            <a:r>
              <a:rPr lang="ko-KR" altLang="en-US" dirty="0"/>
              <a:t>다 오른 뒤인 경우가 많았습니다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뉴스는 주가를 움직이는 </a:t>
            </a:r>
            <a:r>
              <a:rPr lang="en-US" altLang="ko-KR" dirty="0"/>
              <a:t>'</a:t>
            </a:r>
            <a:r>
              <a:rPr lang="ko-KR" altLang="en-US" dirty="0"/>
              <a:t>원인</a:t>
            </a:r>
            <a:r>
              <a:rPr lang="en-US" altLang="ko-KR" dirty="0"/>
              <a:t>'</a:t>
            </a:r>
            <a:r>
              <a:rPr lang="ko-KR" altLang="en-US" dirty="0"/>
              <a:t>이기도 하지만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이미 반영된 주가를 설명하는 결과적 성격도 강하기 때문에 </a:t>
            </a:r>
            <a:br>
              <a:rPr lang="en-US" altLang="ko-KR" dirty="0"/>
            </a:br>
            <a:r>
              <a:rPr lang="ko-KR" altLang="en-US" dirty="0"/>
              <a:t>수치적 상관관계가 낮게 측정된 것입니다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364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994215-3848-0AF8-6855-18D8806F1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/>
              <a:t>분석 결과</a:t>
            </a:r>
            <a:r>
              <a:rPr kumimoji="1" lang="en-US" altLang="ko-KR" b="1" dirty="0"/>
              <a:t>(</a:t>
            </a:r>
            <a:r>
              <a:rPr kumimoji="1" lang="ko-KR" altLang="en-US" b="1" dirty="0"/>
              <a:t>시각화 및 구간별 상세 분석</a:t>
            </a:r>
            <a:r>
              <a:rPr kumimoji="1" lang="en-US" altLang="ko-KR" b="1" dirty="0"/>
              <a:t>)</a:t>
            </a:r>
            <a:endParaRPr kumimoji="1"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FFCCF8-4888-A347-2022-D0504D32B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561" y="1494262"/>
            <a:ext cx="11474605" cy="53637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전체 기간의 선형적 상관관계는 낮았으나</a:t>
            </a:r>
            <a:r>
              <a:rPr lang="en-US" altLang="ko-KR" dirty="0"/>
              <a:t>(0.066), </a:t>
            </a:r>
            <a:r>
              <a:rPr lang="ko-KR" altLang="en-US" dirty="0"/>
              <a:t>시각화를 통해 </a:t>
            </a:r>
            <a:br>
              <a:rPr lang="en-US" altLang="ko-KR" dirty="0"/>
            </a:br>
            <a:r>
              <a:rPr lang="ko-KR" altLang="en-US" dirty="0"/>
              <a:t>대형 이벤트 발생 구간에서는 강한 동조화가 나타남을 확인하였습니다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b="1" dirty="0"/>
              <a:t>상승 동조화 구간 </a:t>
            </a:r>
            <a:r>
              <a:rPr lang="en-US" altLang="ko-KR" b="1" dirty="0"/>
              <a:t>(2</a:t>
            </a:r>
            <a:r>
              <a:rPr lang="ko-KR" altLang="en-US" b="1" dirty="0"/>
              <a:t>월</a:t>
            </a:r>
            <a:r>
              <a:rPr lang="en-US" altLang="ko-KR" b="1" dirty="0"/>
              <a:t>~3</a:t>
            </a:r>
            <a:r>
              <a:rPr lang="ko-KR" altLang="en-US" b="1" dirty="0"/>
              <a:t>월</a:t>
            </a:r>
            <a:r>
              <a:rPr lang="en-US" altLang="ko-KR" b="1" dirty="0"/>
              <a:t>):</a:t>
            </a:r>
            <a:r>
              <a:rPr lang="ko-KR" altLang="en-US" dirty="0"/>
              <a:t> 엔비디아의 </a:t>
            </a:r>
            <a:r>
              <a:rPr lang="en" altLang="ko-KR" dirty="0"/>
              <a:t>GTC 2024 </a:t>
            </a:r>
            <a:r>
              <a:rPr lang="ko-KR" altLang="en-US" dirty="0"/>
              <a:t>컨퍼런스</a:t>
            </a:r>
            <a:r>
              <a:rPr lang="en-US" altLang="ko-KR" dirty="0"/>
              <a:t>(</a:t>
            </a:r>
            <a:r>
              <a:rPr lang="en" altLang="ko-KR" dirty="0"/>
              <a:t>Blackwell </a:t>
            </a:r>
            <a:r>
              <a:rPr lang="ko-KR" altLang="en-US" dirty="0"/>
              <a:t>발표</a:t>
            </a:r>
            <a:r>
              <a:rPr lang="en-US" altLang="ko-KR" dirty="0"/>
              <a:t>)</a:t>
            </a:r>
            <a:r>
              <a:rPr lang="ko-KR" altLang="en-US" dirty="0" err="1"/>
              <a:t>를</a:t>
            </a:r>
            <a:r>
              <a:rPr lang="ko-KR" altLang="en-US" dirty="0"/>
              <a:t> 전후로 감성 점수가 급등하였고</a:t>
            </a:r>
            <a:r>
              <a:rPr lang="en-US" altLang="ko-KR" dirty="0"/>
              <a:t>, </a:t>
            </a:r>
            <a:r>
              <a:rPr lang="ko-KR" altLang="en-US" dirty="0"/>
              <a:t>주가 역시 </a:t>
            </a:r>
            <a:r>
              <a:rPr lang="en-US" altLang="ko-KR" dirty="0"/>
              <a:t>$800</a:t>
            </a:r>
            <a:r>
              <a:rPr lang="ko-KR" altLang="en-US" dirty="0"/>
              <a:t>선을 돌파하며 강한 양의 상관관계를 보였습니다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b="1" dirty="0"/>
              <a:t>최대 호재 반영 </a:t>
            </a:r>
            <a:r>
              <a:rPr lang="en-US" altLang="ko-KR" b="1" dirty="0"/>
              <a:t>(5</a:t>
            </a:r>
            <a:r>
              <a:rPr lang="ko-KR" altLang="en-US" b="1" dirty="0"/>
              <a:t>월</a:t>
            </a:r>
            <a:r>
              <a:rPr lang="en-US" altLang="ko-KR" b="1" dirty="0"/>
              <a:t>~6</a:t>
            </a:r>
            <a:r>
              <a:rPr lang="ko-KR" altLang="en-US" b="1" dirty="0"/>
              <a:t>월</a:t>
            </a:r>
            <a:r>
              <a:rPr lang="en-US" altLang="ko-KR" b="1" dirty="0"/>
              <a:t>):</a:t>
            </a:r>
            <a:r>
              <a:rPr lang="ko-KR" altLang="en-US" dirty="0"/>
              <a:t> </a:t>
            </a:r>
            <a:r>
              <a:rPr lang="en-US" altLang="ko-KR" dirty="0"/>
              <a:t>'1</a:t>
            </a:r>
            <a:r>
              <a:rPr lang="ko-KR" altLang="en-US" dirty="0"/>
              <a:t>분기 </a:t>
            </a:r>
            <a:r>
              <a:rPr lang="ko-KR" altLang="en-US" dirty="0" err="1"/>
              <a:t>어닝</a:t>
            </a:r>
            <a:r>
              <a:rPr lang="ko-KR" altLang="en-US" dirty="0"/>
              <a:t> 서프라이즈</a:t>
            </a:r>
            <a:r>
              <a:rPr lang="en-US" altLang="ko-KR" dirty="0"/>
              <a:t>'</a:t>
            </a:r>
            <a:r>
              <a:rPr lang="ko-KR" altLang="en-US" dirty="0"/>
              <a:t>와 </a:t>
            </a:r>
            <a:r>
              <a:rPr lang="en-US" altLang="ko-KR" dirty="0"/>
              <a:t>'10:1 </a:t>
            </a:r>
            <a:r>
              <a:rPr lang="ko-KR" altLang="en-US" dirty="0"/>
              <a:t>액면분할</a:t>
            </a:r>
            <a:r>
              <a:rPr lang="en-US" altLang="ko-KR" dirty="0"/>
              <a:t>' </a:t>
            </a:r>
            <a:r>
              <a:rPr lang="ko-KR" altLang="en-US" dirty="0"/>
              <a:t>발표가 겹친 </a:t>
            </a:r>
            <a:r>
              <a:rPr lang="en-US" altLang="ko-KR" dirty="0"/>
              <a:t>5</a:t>
            </a:r>
            <a:r>
              <a:rPr lang="ko-KR" altLang="en-US" dirty="0"/>
              <a:t>월 말</a:t>
            </a:r>
            <a:r>
              <a:rPr lang="en-US" altLang="ko-KR" dirty="0"/>
              <a:t>, </a:t>
            </a:r>
            <a:r>
              <a:rPr lang="ko-KR" altLang="en-US" dirty="0"/>
              <a:t>뉴스 감성 지수가 연중 최고치를 기록하였으며 주가 또한 신고가를 경신하며 완벽하게 동행하였습니다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b="1" dirty="0"/>
              <a:t>괴리 발생 구간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8</a:t>
            </a:r>
            <a:r>
              <a:rPr lang="ko-KR" altLang="en-US" dirty="0"/>
              <a:t>월 초 </a:t>
            </a:r>
            <a:r>
              <a:rPr lang="en-US" altLang="ko-KR" dirty="0"/>
              <a:t>'</a:t>
            </a:r>
            <a:r>
              <a:rPr lang="ko-KR" altLang="en-US" dirty="0" err="1"/>
              <a:t>블랙웰</a:t>
            </a:r>
            <a:r>
              <a:rPr lang="ko-KR" altLang="en-US" dirty="0"/>
              <a:t> 칩 설계 결함 루머</a:t>
            </a:r>
            <a:r>
              <a:rPr lang="en-US" altLang="ko-KR" dirty="0"/>
              <a:t>' </a:t>
            </a:r>
            <a:r>
              <a:rPr lang="ko-KR" altLang="en-US" dirty="0"/>
              <a:t>등으로 감성 점수가 급락했으나</a:t>
            </a:r>
            <a:r>
              <a:rPr lang="en-US" altLang="ko-KR" dirty="0"/>
              <a:t>, </a:t>
            </a:r>
            <a:r>
              <a:rPr lang="ko-KR" altLang="en-US" dirty="0"/>
              <a:t>저가 매수세 유입으로 주가는 반등하는 등 뉴스와 주가가 엇갈리는 구간도 관찰되었습니다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b="1" dirty="0"/>
              <a:t>이는 낮은 상관계수</a:t>
            </a:r>
            <a:r>
              <a:rPr lang="en-US" altLang="ko-KR" b="1" dirty="0"/>
              <a:t>(0.066)</a:t>
            </a:r>
            <a:r>
              <a:rPr lang="ko-KR" altLang="en-US" b="1" dirty="0"/>
              <a:t>의 주요 원인이 되었습니다</a:t>
            </a:r>
            <a:r>
              <a:rPr lang="en-US" altLang="ko-KR" b="1" dirty="0"/>
              <a:t>.</a:t>
            </a:r>
            <a:endParaRPr kumimoji="1"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1300390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2566A3-E5BD-A05B-8D01-2F74A16C8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/>
              <a:t>최종 결론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69EA6A-DC39-3F1D-A99E-5F37BC7B7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본 연구 결과</a:t>
            </a:r>
            <a:r>
              <a:rPr lang="en-US" altLang="ko-KR" dirty="0"/>
              <a:t>, </a:t>
            </a:r>
            <a:r>
              <a:rPr lang="ko-KR" altLang="en-US" dirty="0"/>
              <a:t>전체 기간의 뉴스 감성과 주가는 </a:t>
            </a:r>
            <a:r>
              <a:rPr lang="en-US" altLang="ko-KR" b="1" dirty="0"/>
              <a:t>0.066</a:t>
            </a:r>
            <a:r>
              <a:rPr lang="ko-KR" altLang="en-US" b="1" dirty="0"/>
              <a:t>의 낮은 상관계수</a:t>
            </a:r>
            <a:r>
              <a:rPr lang="ko-KR" altLang="en-US" dirty="0"/>
              <a:t>를 보여 키워드 뉴스만으로 주가를 예측하는 데는 한계가 있음을 확인하였습니다</a:t>
            </a:r>
            <a:r>
              <a:rPr lang="en-US" altLang="ko-KR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그러나 단순 통계 수치와 달리</a:t>
            </a:r>
            <a:r>
              <a:rPr lang="en-US" altLang="ko-KR" dirty="0"/>
              <a:t>, </a:t>
            </a:r>
            <a:r>
              <a:rPr lang="ko-KR" altLang="en-US" dirty="0"/>
              <a:t>실적 발표나 신제품 공개 등 </a:t>
            </a:r>
            <a:r>
              <a:rPr lang="ko-KR" altLang="en-US" b="1" dirty="0"/>
              <a:t>‘핵심 이벤트</a:t>
            </a:r>
            <a:r>
              <a:rPr lang="en-US" altLang="ko-KR" b="1" dirty="0"/>
              <a:t>(</a:t>
            </a:r>
            <a:r>
              <a:rPr lang="en" altLang="ko-KR" b="1" dirty="0"/>
              <a:t>Mega Event)’ </a:t>
            </a:r>
            <a:r>
              <a:rPr lang="ko-KR" altLang="en-US" b="1" dirty="0"/>
              <a:t>구간에서는 뉴스와 주가가 강력하게 </a:t>
            </a:r>
            <a:r>
              <a:rPr lang="ko-KR" altLang="en-US" b="1" dirty="0" err="1"/>
              <a:t>동조화</a:t>
            </a:r>
            <a:r>
              <a:rPr lang="ko-KR" altLang="en-US" dirty="0" err="1"/>
              <a:t>되는</a:t>
            </a:r>
            <a:r>
              <a:rPr lang="ko-KR" altLang="en-US" dirty="0"/>
              <a:t> 현상이 시각적으로 입증되었습니다</a:t>
            </a:r>
            <a:r>
              <a:rPr lang="en-US" altLang="ko-KR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결론적으로 뉴스 데이터는 상시 예측 도구보다는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b="1" dirty="0"/>
              <a:t>특정 이벤트 전후의 시장 기대 심리와 변동성을 포착하는 핵심 보조 지표</a:t>
            </a:r>
            <a:r>
              <a:rPr lang="ko-KR" altLang="en-US" dirty="0"/>
              <a:t>로 활용할 때 가장 유효함을 확인하였습니다</a:t>
            </a:r>
            <a:r>
              <a:rPr lang="en-US" altLang="ko-KR" dirty="0"/>
              <a:t>.</a:t>
            </a: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2599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1043</Words>
  <Application>Microsoft Macintosh PowerPoint</Application>
  <PresentationFormat>와이드스크린</PresentationFormat>
  <Paragraphs>80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뉴스 텍스트 감성 분석을 통한 주가 변동성 상관관계 연구</vt:lpstr>
      <vt:lpstr>목차</vt:lpstr>
      <vt:lpstr>목적</vt:lpstr>
      <vt:lpstr>연구 범위</vt:lpstr>
      <vt:lpstr>데이터 수집 및 전처리 요약</vt:lpstr>
      <vt:lpstr>데이터 수집</vt:lpstr>
      <vt:lpstr>데이터 수집</vt:lpstr>
      <vt:lpstr>데이터 수집</vt:lpstr>
      <vt:lpstr>데이터 수집</vt:lpstr>
      <vt:lpstr>데이터 전처리(날짜 데이터 표준화)</vt:lpstr>
      <vt:lpstr>데이터 전처리(노이즈 제거 및 필터링)</vt:lpstr>
      <vt:lpstr>데이터 전처리(감성 사전 구축 및 점수화)</vt:lpstr>
      <vt:lpstr>데이터 전처리(감성 사전 구축 및 점수화)</vt:lpstr>
      <vt:lpstr>PowerPoint 프레젠테이션</vt:lpstr>
      <vt:lpstr>분석 결과(상관관계 분석)</vt:lpstr>
      <vt:lpstr>분석 결과(상관관계 분석)</vt:lpstr>
      <vt:lpstr>분석 결과(시각화 및 구간별 상세 분석)</vt:lpstr>
      <vt:lpstr>최종 결론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이민서[컴퓨터정보공학과]</dc:creator>
  <cp:lastModifiedBy>이민서[컴퓨터정보공학과]</cp:lastModifiedBy>
  <cp:revision>2</cp:revision>
  <dcterms:created xsi:type="dcterms:W3CDTF">2025-12-14T13:44:07Z</dcterms:created>
  <dcterms:modified xsi:type="dcterms:W3CDTF">2025-12-14T14:29:07Z</dcterms:modified>
</cp:coreProperties>
</file>